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4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satOff val="-3547"/>
                    <a:lumOff val="-10352"/>
                  </a:schemeClr>
                </a:solidFill>
              </a:defRPr>
            </a:pPr>
            <a:endParaRPr/>
          </a:p>
        </p:txBody>
      </p:sp>
      <p:sp>
        <p:nvSpPr>
          <p:cNvPr id="21" name="Text 1"/>
          <p:cNvSpPr txBox="1"/>
          <p:nvPr/>
        </p:nvSpPr>
        <p:spPr>
          <a:xfrm>
            <a:off x="320039" y="389480"/>
            <a:ext cx="3200402" cy="1452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 b="1"/>
            </a:pPr>
            <a:r>
              <a:t>Coarse &amp; Fine-Grained</a:t>
            </a:r>
          </a:p>
          <a:p>
            <a:pPr>
              <a:defRPr sz="2200" b="1"/>
            </a:pPr>
            <a:r>
              <a:t>Image Classification on ImageWoof and OxfordPets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365759" y="2024687"/>
            <a:ext cx="32004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i="1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r>
              <a:t>Using Pretrained CNN Feature Extractors</a:t>
            </a:r>
          </a:p>
        </p:txBody>
      </p:sp>
      <p:sp>
        <p:nvSpPr>
          <p:cNvPr id="23" name="Shape 3"/>
          <p:cNvSpPr/>
          <p:nvPr/>
        </p:nvSpPr>
        <p:spPr>
          <a:xfrm>
            <a:off x="320039" y="1874520"/>
            <a:ext cx="3108962" cy="3657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AD5B24"/>
            </a:solidFill>
            <a:miter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Text 4"/>
          <p:cNvSpPr txBox="1"/>
          <p:nvPr/>
        </p:nvSpPr>
        <p:spPr>
          <a:xfrm>
            <a:off x="274319" y="4283881"/>
            <a:ext cx="3200402" cy="723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/>
            </a:pPr>
            <a:r>
              <a:t>Salamot Fakoya  and Isabella Ran</a:t>
            </a:r>
          </a:p>
          <a:p>
            <a:pPr>
              <a:defRPr sz="1000"/>
            </a:pPr>
            <a:r>
              <a:t>sif240000 and ixr220014 </a:t>
            </a:r>
          </a:p>
          <a:p>
            <a:pPr>
              <a:defRPr sz="1000"/>
            </a:pPr>
            <a:r>
              <a:t>University of Texas at Dallas</a:t>
            </a:r>
          </a:p>
          <a:p>
            <a:pPr>
              <a:defRPr sz="1000"/>
            </a:pPr>
            <a:r>
              <a:t>CS 4375.002</a:t>
            </a:r>
          </a:p>
        </p:txBody>
      </p:sp>
      <p:sp>
        <p:nvSpPr>
          <p:cNvPr id="25" name="Shape 5"/>
          <p:cNvSpPr/>
          <p:nvPr/>
        </p:nvSpPr>
        <p:spPr>
          <a:xfrm>
            <a:off x="4023359" y="320040"/>
            <a:ext cx="4800601" cy="1325881"/>
          </a:xfrm>
          <a:prstGeom prst="rect">
            <a:avLst/>
          </a:prstGeom>
          <a:blipFill>
            <a:blip r:embed="rId2"/>
          </a:blipFill>
          <a:ln w="25400">
            <a:solidFill>
              <a:srgbClr val="5B8FD4"/>
            </a:solidFill>
            <a:miter lim="400000"/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6" name="Text 6"/>
          <p:cNvSpPr txBox="1"/>
          <p:nvPr/>
        </p:nvSpPr>
        <p:spPr>
          <a:xfrm>
            <a:off x="4206240" y="369623"/>
            <a:ext cx="2651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E8A66C"/>
                </a:solidFill>
              </a:defRPr>
            </a:lvl1pPr>
          </a:lstStyle>
          <a:p>
            <a:r>
              <a:t>Motivation and Goal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4206240" y="634414"/>
            <a:ext cx="4434840" cy="962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CNNs excel at coarse recognition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Fine-grained breed ID is much harder: subtle inter-class differences, large intra-class variation (pose, lighting, background)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Goal: discover breed structure unsupervised — no labels at clustering time</a:t>
            </a:r>
          </a:p>
        </p:txBody>
      </p:sp>
      <p:sp>
        <p:nvSpPr>
          <p:cNvPr id="28" name="Shape 8"/>
          <p:cNvSpPr/>
          <p:nvPr/>
        </p:nvSpPr>
        <p:spPr>
          <a:xfrm>
            <a:off x="4023359" y="1783079"/>
            <a:ext cx="4800601" cy="1645921"/>
          </a:xfrm>
          <a:prstGeom prst="rect">
            <a:avLst/>
          </a:prstGeom>
          <a:blipFill>
            <a:blip r:embed="rId2"/>
          </a:blipFill>
          <a:ln w="25400">
            <a:solidFill>
              <a:srgbClr val="678ECF"/>
            </a:solidFill>
            <a:miter lim="400000"/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9" name="Text 9"/>
          <p:cNvSpPr txBox="1"/>
          <p:nvPr/>
        </p:nvSpPr>
        <p:spPr>
          <a:xfrm>
            <a:off x="4206240" y="1832663"/>
            <a:ext cx="2651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E8A66C"/>
                </a:solidFill>
              </a:defRPr>
            </a:lvl1pPr>
          </a:lstStyle>
          <a:p>
            <a:r>
              <a:t>Datasets Used</a:t>
            </a:r>
          </a:p>
        </p:txBody>
      </p:sp>
      <p:sp>
        <p:nvSpPr>
          <p:cNvPr id="30" name="Text 11"/>
          <p:cNvSpPr txBox="1"/>
          <p:nvPr/>
        </p:nvSpPr>
        <p:spPr>
          <a:xfrm>
            <a:off x="4370832" y="2208320"/>
            <a:ext cx="1143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chemeClr val="accent5">
                    <a:lumOff val="20196"/>
                  </a:schemeClr>
                </a:solidFill>
              </a:defRPr>
            </a:lvl1pPr>
          </a:lstStyle>
          <a:p>
            <a:r>
              <a:t>CIFAR-10 Dogs</a:t>
            </a:r>
          </a:p>
        </p:txBody>
      </p:sp>
      <p:sp>
        <p:nvSpPr>
          <p:cNvPr id="31" name="Text 12"/>
          <p:cNvSpPr txBox="1"/>
          <p:nvPr/>
        </p:nvSpPr>
        <p:spPr>
          <a:xfrm>
            <a:off x="5532120" y="2149769"/>
            <a:ext cx="3182113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E8EDF5"/>
                </a:solidFill>
              </a:defRPr>
            </a:lvl1pPr>
          </a:lstStyle>
          <a:p>
            <a:r>
              <a:t>6,000 imgs · 1 coarse class · 32×32px · No breed labels → Abandoned</a:t>
            </a:r>
          </a:p>
        </p:txBody>
      </p:sp>
      <p:sp>
        <p:nvSpPr>
          <p:cNvPr id="32" name="Text 14"/>
          <p:cNvSpPr txBox="1"/>
          <p:nvPr/>
        </p:nvSpPr>
        <p:spPr>
          <a:xfrm>
            <a:off x="4370832" y="2528360"/>
            <a:ext cx="1143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chemeClr val="accent5">
                    <a:lumOff val="20196"/>
                  </a:schemeClr>
                </a:solidFill>
              </a:defRPr>
            </a:lvl1pPr>
          </a:lstStyle>
          <a:p>
            <a:r>
              <a:t>Imagewoof</a:t>
            </a:r>
          </a:p>
        </p:txBody>
      </p:sp>
      <p:sp>
        <p:nvSpPr>
          <p:cNvPr id="33" name="Text 15"/>
          <p:cNvSpPr txBox="1"/>
          <p:nvPr/>
        </p:nvSpPr>
        <p:spPr>
          <a:xfrm>
            <a:off x="5532120" y="2533395"/>
            <a:ext cx="31821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E8EDF5"/>
                </a:solidFill>
              </a:defRPr>
            </a:lvl1pPr>
          </a:lstStyle>
          <a:p>
            <a:r>
              <a:t>9,025 imgs · 10 dog breeds · 160px → 224×224 · 80/10/10 split</a:t>
            </a:r>
          </a:p>
        </p:txBody>
      </p:sp>
      <p:sp>
        <p:nvSpPr>
          <p:cNvPr id="34" name="Text 17"/>
          <p:cNvSpPr txBox="1"/>
          <p:nvPr/>
        </p:nvSpPr>
        <p:spPr>
          <a:xfrm>
            <a:off x="4370832" y="2848400"/>
            <a:ext cx="1143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chemeClr val="accent5">
                    <a:lumOff val="20196"/>
                  </a:schemeClr>
                </a:solidFill>
              </a:defRPr>
            </a:lvl1pPr>
          </a:lstStyle>
          <a:p>
            <a:r>
              <a:t>Oxford Dogs</a:t>
            </a:r>
          </a:p>
        </p:txBody>
      </p:sp>
      <p:sp>
        <p:nvSpPr>
          <p:cNvPr id="35" name="Text 18"/>
          <p:cNvSpPr txBox="1"/>
          <p:nvPr/>
        </p:nvSpPr>
        <p:spPr>
          <a:xfrm>
            <a:off x="5532120" y="2789849"/>
            <a:ext cx="3182113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E8EDF5"/>
                </a:solidFill>
              </a:defRPr>
            </a:lvl1pPr>
          </a:lstStyle>
          <a:p>
            <a:r>
              <a:t>4,978 imgs · 25 breeds · Variable res → 224×224 · Flickr (independent of ImageNet)</a:t>
            </a:r>
          </a:p>
        </p:txBody>
      </p:sp>
      <p:sp>
        <p:nvSpPr>
          <p:cNvPr id="36" name="Text 20"/>
          <p:cNvSpPr txBox="1"/>
          <p:nvPr/>
        </p:nvSpPr>
        <p:spPr>
          <a:xfrm>
            <a:off x="4370832" y="3168440"/>
            <a:ext cx="1143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chemeClr val="accent5">
                    <a:lumOff val="20196"/>
                  </a:schemeClr>
                </a:solidFill>
              </a:defRPr>
            </a:lvl1pPr>
          </a:lstStyle>
          <a:p>
            <a:r>
              <a:t>Oxford Cats</a:t>
            </a:r>
          </a:p>
        </p:txBody>
      </p:sp>
      <p:sp>
        <p:nvSpPr>
          <p:cNvPr id="37" name="Text 21"/>
          <p:cNvSpPr txBox="1"/>
          <p:nvPr/>
        </p:nvSpPr>
        <p:spPr>
          <a:xfrm>
            <a:off x="5532120" y="3173476"/>
            <a:ext cx="31821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E8EDF5"/>
                </a:solidFill>
              </a:defRPr>
            </a:lvl1pPr>
          </a:lstStyle>
          <a:p>
            <a:r>
              <a:t>2,371 imgs · 12 breeds · Variable res → 224×224 · Flickr source</a:t>
            </a:r>
          </a:p>
        </p:txBody>
      </p:sp>
      <p:sp>
        <p:nvSpPr>
          <p:cNvPr id="38" name="Shape 22"/>
          <p:cNvSpPr/>
          <p:nvPr/>
        </p:nvSpPr>
        <p:spPr>
          <a:xfrm>
            <a:off x="4023359" y="3566159"/>
            <a:ext cx="2331721" cy="1439477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9" name="Text 23"/>
          <p:cNvSpPr txBox="1"/>
          <p:nvPr/>
        </p:nvSpPr>
        <p:spPr>
          <a:xfrm>
            <a:off x="4206240" y="3606599"/>
            <a:ext cx="20116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E8A66C"/>
                </a:solidFill>
              </a:defRPr>
            </a:lvl1pPr>
          </a:lstStyle>
          <a:p>
            <a:r>
              <a:t>Models Evaluated</a:t>
            </a:r>
          </a:p>
        </p:txBody>
      </p:sp>
      <p:sp>
        <p:nvSpPr>
          <p:cNvPr id="40" name="Text 24"/>
          <p:cNvSpPr txBox="1"/>
          <p:nvPr/>
        </p:nvSpPr>
        <p:spPr>
          <a:xfrm>
            <a:off x="4206240" y="3970826"/>
            <a:ext cx="2011681" cy="800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2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ResNet-18 (512-d, 11.7M)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VGG-16 (4,096-d, 134M)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ViT-B/16 (768-d, 86M)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ViT-L/16 (1,024-d, 307M)</a:t>
            </a:r>
          </a:p>
        </p:txBody>
      </p:sp>
      <p:sp>
        <p:nvSpPr>
          <p:cNvPr id="41" name="Shape 25"/>
          <p:cNvSpPr/>
          <p:nvPr/>
        </p:nvSpPr>
        <p:spPr>
          <a:xfrm>
            <a:off x="6492240" y="3566159"/>
            <a:ext cx="2331721" cy="1439477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2" name="Text 26"/>
          <p:cNvSpPr txBox="1"/>
          <p:nvPr/>
        </p:nvSpPr>
        <p:spPr>
          <a:xfrm>
            <a:off x="6675119" y="3606599"/>
            <a:ext cx="20116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F4A261"/>
                </a:solidFill>
              </a:defRPr>
            </a:lvl1pPr>
          </a:lstStyle>
          <a:p>
            <a:r>
              <a:t>What Models Predict</a:t>
            </a:r>
          </a:p>
        </p:txBody>
      </p:sp>
      <p:sp>
        <p:nvSpPr>
          <p:cNvPr id="43" name="Text 27"/>
          <p:cNvSpPr txBox="1"/>
          <p:nvPr/>
        </p:nvSpPr>
        <p:spPr>
          <a:xfrm>
            <a:off x="6675119" y="3818426"/>
            <a:ext cx="2011681" cy="1104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2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Feature vectors per image (frozen extractor)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K-Means cluster assignments (unsupervised)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Evaluated vs. true breed labels using ARI + NMI</a:t>
            </a:r>
          </a:p>
        </p:txBody>
      </p:sp>
      <p:sp>
        <p:nvSpPr>
          <p:cNvPr id="44" name="Line"/>
          <p:cNvSpPr/>
          <p:nvPr/>
        </p:nvSpPr>
        <p:spPr>
          <a:xfrm flipV="1">
            <a:off x="5385462" y="1796949"/>
            <a:ext cx="1" cy="1618182"/>
          </a:xfrm>
          <a:prstGeom prst="line">
            <a:avLst/>
          </a:prstGeom>
          <a:ln w="254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" name="Text 1"/>
          <p:cNvSpPr txBox="1"/>
          <p:nvPr/>
        </p:nvSpPr>
        <p:spPr>
          <a:xfrm>
            <a:off x="411479" y="136496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t-SNE: Imagewoof (ResNet-18, K=10)</a:t>
            </a:r>
          </a:p>
        </p:txBody>
      </p:sp>
      <p:sp>
        <p:nvSpPr>
          <p:cNvPr id="48" name="Shape 2"/>
          <p:cNvSpPr/>
          <p:nvPr/>
        </p:nvSpPr>
        <p:spPr>
          <a:xfrm>
            <a:off x="8046719" y="749808"/>
            <a:ext cx="822961" cy="292609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" name="Shape 4"/>
          <p:cNvSpPr/>
          <p:nvPr/>
        </p:nvSpPr>
        <p:spPr>
          <a:xfrm>
            <a:off x="228600" y="749808"/>
            <a:ext cx="7772400" cy="292609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" name="Text 5"/>
          <p:cNvSpPr txBox="1"/>
          <p:nvPr/>
        </p:nvSpPr>
        <p:spPr>
          <a:xfrm>
            <a:off x="320040" y="827576"/>
            <a:ext cx="758951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374151"/>
                </a:solidFill>
              </a:defRPr>
            </a:lvl1pPr>
          </a:lstStyle>
          <a:p>
            <a:r>
              <a:t>10 dog breeds · ARI 0.581 · NMI 0.687 · Average purity 77.3% · Best K = 10 (matches true breed count)</a:t>
            </a:r>
          </a:p>
        </p:txBody>
      </p:sp>
      <p:pic>
        <p:nvPicPr>
          <p:cNvPr id="5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15567"/>
            <a:ext cx="8686800" cy="3246122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Shape 6"/>
          <p:cNvSpPr/>
          <p:nvPr/>
        </p:nvSpPr>
        <p:spPr>
          <a:xfrm>
            <a:off x="228600" y="4462271"/>
            <a:ext cx="8686800" cy="566929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3" name="Text 7"/>
          <p:cNvSpPr txBox="1"/>
          <p:nvPr/>
        </p:nvSpPr>
        <p:spPr>
          <a:xfrm>
            <a:off x="411479" y="4548930"/>
            <a:ext cx="83210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Key Observation:  </a:t>
            </a:r>
            <a:r>
              <a:rPr b="0">
                <a:solidFill>
                  <a:srgbClr val="FFFFFF"/>
                </a:solidFill>
              </a:rPr>
              <a:t>Samoyed (top-left) and Shiba Inu (top-right) form the tightest isolated clusters — consistent with their 80%+ per-breed purity. </a:t>
            </a:r>
            <a:r>
              <a:rPr b="0" i="1">
                <a:solidFill>
                  <a:srgbClr val="E8EDF5"/>
                </a:solidFill>
              </a:rPr>
              <a:t>English Foxhound and Beagle overlap in both panels, directly explaining why those two breeds share a cluster in the output.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" name="Text 1"/>
          <p:cNvSpPr txBox="1"/>
          <p:nvPr/>
        </p:nvSpPr>
        <p:spPr>
          <a:xfrm>
            <a:off x="411479" y="136496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t-SNE: Oxford Dogs (ResNet-18, K=15)</a:t>
            </a:r>
          </a:p>
        </p:txBody>
      </p:sp>
      <p:sp>
        <p:nvSpPr>
          <p:cNvPr id="57" name="Shape 2"/>
          <p:cNvSpPr/>
          <p:nvPr/>
        </p:nvSpPr>
        <p:spPr>
          <a:xfrm>
            <a:off x="8046719" y="749808"/>
            <a:ext cx="822961" cy="292609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" name="Shape 4"/>
          <p:cNvSpPr/>
          <p:nvPr/>
        </p:nvSpPr>
        <p:spPr>
          <a:xfrm>
            <a:off x="228600" y="749808"/>
            <a:ext cx="7772400" cy="292609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Text 5"/>
          <p:cNvSpPr txBox="1"/>
          <p:nvPr/>
        </p:nvSpPr>
        <p:spPr>
          <a:xfrm>
            <a:off x="320040" y="827576"/>
            <a:ext cx="758951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374151"/>
                </a:solidFill>
              </a:defRPr>
            </a:lvl1pPr>
          </a:lstStyle>
          <a:p>
            <a:r>
              <a:t>25 dog breeds · ARI 0.530 · NMI 0.789 · Average purity 90.2% · 22 of 25 breeds exceed 80% purity</a:t>
            </a:r>
          </a:p>
        </p:txBody>
      </p:sp>
      <p:pic>
        <p:nvPicPr>
          <p:cNvPr id="6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15567"/>
            <a:ext cx="8686800" cy="3246122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hape 6"/>
          <p:cNvSpPr/>
          <p:nvPr/>
        </p:nvSpPr>
        <p:spPr>
          <a:xfrm>
            <a:off x="228600" y="4462271"/>
            <a:ext cx="8686800" cy="566929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2" name="Text 7"/>
          <p:cNvSpPr txBox="1"/>
          <p:nvPr/>
        </p:nvSpPr>
        <p:spPr>
          <a:xfrm>
            <a:off x="411479" y="4548930"/>
            <a:ext cx="83210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Key Observation:  </a:t>
            </a:r>
            <a:r>
              <a:rPr b="0">
                <a:solidFill>
                  <a:srgbClr val="FFFFFF"/>
                </a:solidFill>
              </a:rPr>
              <a:t>25 breeds form well-separated compact blobs — far more distinct than Imagewoof. Cluster sharing is biologically meaningful: Basset Hound + Beagle, Leonberger + Newfoundland, Great Pyrenees + Samoyed. </a:t>
            </a:r>
            <a:r>
              <a:rPr b="0" i="1">
                <a:solidFill>
                  <a:srgbClr val="E8EDF5"/>
                </a:solidFill>
              </a:rPr>
              <a:t>Keep this image in mind — Oxford Cats looks very different.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" name="Text 1"/>
          <p:cNvSpPr txBox="1"/>
          <p:nvPr/>
        </p:nvSpPr>
        <p:spPr>
          <a:xfrm>
            <a:off x="411479" y="136496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t-SNE: Oxford Cats (ResNet-18, K=5)</a:t>
            </a:r>
          </a:p>
        </p:txBody>
      </p:sp>
      <p:sp>
        <p:nvSpPr>
          <p:cNvPr id="66" name="Shape 2"/>
          <p:cNvSpPr/>
          <p:nvPr/>
        </p:nvSpPr>
        <p:spPr>
          <a:xfrm>
            <a:off x="8046719" y="749808"/>
            <a:ext cx="822961" cy="292609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Shape 4"/>
          <p:cNvSpPr/>
          <p:nvPr/>
        </p:nvSpPr>
        <p:spPr>
          <a:xfrm>
            <a:off x="228600" y="749808"/>
            <a:ext cx="7772400" cy="292609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" name="Text 5"/>
          <p:cNvSpPr txBox="1"/>
          <p:nvPr/>
        </p:nvSpPr>
        <p:spPr>
          <a:xfrm>
            <a:off x="320040" y="827576"/>
            <a:ext cx="758951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374151"/>
                </a:solidFill>
              </a:defRPr>
            </a:lvl1pPr>
          </a:lstStyle>
          <a:p>
            <a:r>
              <a:t>12 cat breeds · ARI 0.261 · NMI 0.482 · Average purity 73.0% · Best K = 5 (silhouette goes negative at K≥10)</a:t>
            </a:r>
          </a:p>
        </p:txBody>
      </p:sp>
      <p:pic>
        <p:nvPicPr>
          <p:cNvPr id="6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15567"/>
            <a:ext cx="8686800" cy="3246122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hape 6"/>
          <p:cNvSpPr/>
          <p:nvPr/>
        </p:nvSpPr>
        <p:spPr>
          <a:xfrm>
            <a:off x="228600" y="4462271"/>
            <a:ext cx="8686800" cy="566929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71" name="Text 7"/>
          <p:cNvSpPr txBox="1"/>
          <p:nvPr/>
        </p:nvSpPr>
        <p:spPr>
          <a:xfrm>
            <a:off x="411479" y="4548930"/>
            <a:ext cx="83210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Key Observation:  </a:t>
            </a:r>
            <a:r>
              <a:rPr b="0">
                <a:solidFill>
                  <a:srgbClr val="FFFFFF"/>
                </a:solidFill>
              </a:rPr>
              <a:t>Compare to Oxford Dogs — 12 breeds show far more inter-class overlap. Only Persian (isolated top) and Sphynx (far left) separate clearly; most other breeds blend together. </a:t>
            </a:r>
            <a:r>
              <a:rPr b="0" i="1">
                <a:solidFill>
                  <a:srgbClr val="E8EDF5"/>
                </a:solidFill>
              </a:rPr>
              <a:t>This directly explains why cat ARI (0.261) is half that of dogs (0.530) across every model and experiment.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" name="Text 1"/>
          <p:cNvSpPr txBox="1"/>
          <p:nvPr/>
        </p:nvSpPr>
        <p:spPr>
          <a:xfrm>
            <a:off x="411479" y="136496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Models &amp; Architectures Compared</a:t>
            </a:r>
          </a:p>
        </p:txBody>
      </p:sp>
      <p:sp>
        <p:nvSpPr>
          <p:cNvPr id="75" name="Shape 2"/>
          <p:cNvSpPr/>
          <p:nvPr/>
        </p:nvSpPr>
        <p:spPr>
          <a:xfrm>
            <a:off x="274320" y="749808"/>
            <a:ext cx="1508761" cy="530352"/>
          </a:xfrm>
          <a:prstGeom prst="roundRect">
            <a:avLst>
              <a:gd name="adj" fmla="val 13793"/>
            </a:avLst>
          </a:prstGeom>
          <a:solidFill>
            <a:srgbClr val="2E5FAC"/>
          </a:solidFill>
          <a:ln w="12700">
            <a:solidFill>
              <a:srgbClr val="2E5FA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" name="Text 3"/>
          <p:cNvSpPr txBox="1"/>
          <p:nvPr/>
        </p:nvSpPr>
        <p:spPr>
          <a:xfrm>
            <a:off x="320039" y="900728"/>
            <a:ext cx="14173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Raw Image</a:t>
            </a:r>
          </a:p>
        </p:txBody>
      </p:sp>
      <p:sp>
        <p:nvSpPr>
          <p:cNvPr id="77" name="Shape 4"/>
          <p:cNvSpPr/>
          <p:nvPr/>
        </p:nvSpPr>
        <p:spPr>
          <a:xfrm>
            <a:off x="1783079" y="932688"/>
            <a:ext cx="228601" cy="16459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Shape 5"/>
          <p:cNvSpPr/>
          <p:nvPr/>
        </p:nvSpPr>
        <p:spPr>
          <a:xfrm>
            <a:off x="2011679" y="749808"/>
            <a:ext cx="1508761" cy="530352"/>
          </a:xfrm>
          <a:prstGeom prst="roundRect">
            <a:avLst>
              <a:gd name="adj" fmla="val 13793"/>
            </a:avLst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Text 6"/>
          <p:cNvSpPr txBox="1"/>
          <p:nvPr/>
        </p:nvSpPr>
        <p:spPr>
          <a:xfrm>
            <a:off x="2057399" y="818178"/>
            <a:ext cx="141732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Frozen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Extractor</a:t>
            </a:r>
          </a:p>
        </p:txBody>
      </p:sp>
      <p:sp>
        <p:nvSpPr>
          <p:cNvPr id="80" name="Shape 7"/>
          <p:cNvSpPr/>
          <p:nvPr/>
        </p:nvSpPr>
        <p:spPr>
          <a:xfrm>
            <a:off x="3520440" y="932688"/>
            <a:ext cx="228601" cy="16459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Shape 8"/>
          <p:cNvSpPr/>
          <p:nvPr/>
        </p:nvSpPr>
        <p:spPr>
          <a:xfrm>
            <a:off x="3749040" y="749808"/>
            <a:ext cx="1508761" cy="530352"/>
          </a:xfrm>
          <a:prstGeom prst="roundRect">
            <a:avLst>
              <a:gd name="adj" fmla="val 13793"/>
            </a:avLst>
          </a:prstGeom>
          <a:solidFill>
            <a:srgbClr val="5B8FD4"/>
          </a:solidFill>
          <a:ln w="12700">
            <a:solidFill>
              <a:srgbClr val="5B8FD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" name="Text 9"/>
          <p:cNvSpPr txBox="1"/>
          <p:nvPr/>
        </p:nvSpPr>
        <p:spPr>
          <a:xfrm>
            <a:off x="3794760" y="814929"/>
            <a:ext cx="141732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 err="1"/>
              <a:t>StandardScaler</a:t>
            </a:r>
            <a:endParaRPr dirty="0"/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+</a:t>
            </a:r>
            <a:r>
              <a:rPr lang="en-US" dirty="0"/>
              <a:t> t-SNE /</a:t>
            </a:r>
            <a:r>
              <a:rPr dirty="0"/>
              <a:t> PCA</a:t>
            </a:r>
          </a:p>
        </p:txBody>
      </p:sp>
      <p:sp>
        <p:nvSpPr>
          <p:cNvPr id="83" name="Shape 10"/>
          <p:cNvSpPr/>
          <p:nvPr/>
        </p:nvSpPr>
        <p:spPr>
          <a:xfrm>
            <a:off x="5257800" y="932688"/>
            <a:ext cx="228600" cy="16459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" name="Shape 11"/>
          <p:cNvSpPr/>
          <p:nvPr/>
        </p:nvSpPr>
        <p:spPr>
          <a:xfrm>
            <a:off x="5486400" y="749808"/>
            <a:ext cx="1508761" cy="530352"/>
          </a:xfrm>
          <a:prstGeom prst="roundRect">
            <a:avLst>
              <a:gd name="adj" fmla="val 13793"/>
            </a:avLst>
          </a:prstGeom>
          <a:solidFill>
            <a:srgbClr val="F4A261"/>
          </a:solidFill>
          <a:ln w="12700">
            <a:solidFill>
              <a:srgbClr val="F4A26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Text 12"/>
          <p:cNvSpPr txBox="1"/>
          <p:nvPr/>
        </p:nvSpPr>
        <p:spPr>
          <a:xfrm>
            <a:off x="5532120" y="818178"/>
            <a:ext cx="141732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K-Means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Clustering</a:t>
            </a:r>
          </a:p>
        </p:txBody>
      </p:sp>
      <p:sp>
        <p:nvSpPr>
          <p:cNvPr id="86" name="Shape 13"/>
          <p:cNvSpPr/>
          <p:nvPr/>
        </p:nvSpPr>
        <p:spPr>
          <a:xfrm>
            <a:off x="6995159" y="932688"/>
            <a:ext cx="228601" cy="16459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" name="Shape 14"/>
          <p:cNvSpPr/>
          <p:nvPr/>
        </p:nvSpPr>
        <p:spPr>
          <a:xfrm>
            <a:off x="7223759" y="749808"/>
            <a:ext cx="1508761" cy="530352"/>
          </a:xfrm>
          <a:prstGeom prst="roundRect">
            <a:avLst>
              <a:gd name="adj" fmla="val 13793"/>
            </a:avLst>
          </a:prstGeom>
          <a:solidFill>
            <a:srgbClr val="2D9648"/>
          </a:solidFill>
          <a:ln w="12700">
            <a:solidFill>
              <a:srgbClr val="2D964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Text 15"/>
          <p:cNvSpPr txBox="1"/>
          <p:nvPr/>
        </p:nvSpPr>
        <p:spPr>
          <a:xfrm>
            <a:off x="7269479" y="818178"/>
            <a:ext cx="141732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ARI / NMI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89" name="Text 16"/>
          <p:cNvSpPr txBox="1"/>
          <p:nvPr/>
        </p:nvSpPr>
        <p:spPr>
          <a:xfrm>
            <a:off x="320040" y="1330496"/>
            <a:ext cx="85039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i="1">
                <a:solidFill>
                  <a:srgbClr val="6B7280"/>
                </a:solidFill>
              </a:defRPr>
            </a:lvl1pPr>
          </a:lstStyle>
          <a:p>
            <a:r>
              <a:t>No labels used during clustering — labels only at evaluation time</a:t>
            </a:r>
          </a:p>
        </p:txBody>
      </p:sp>
      <p:sp>
        <p:nvSpPr>
          <p:cNvPr id="90" name="Shape 17"/>
          <p:cNvSpPr/>
          <p:nvPr/>
        </p:nvSpPr>
        <p:spPr>
          <a:xfrm>
            <a:off x="228600" y="1664207"/>
            <a:ext cx="2011679" cy="3246121"/>
          </a:xfrm>
          <a:prstGeom prst="rect">
            <a:avLst/>
          </a:prstGeom>
          <a:solidFill>
            <a:srgbClr val="FFFFFF"/>
          </a:solidFill>
          <a:ln w="25400">
            <a:solidFill>
              <a:srgbClr val="2E5FAC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91" name="Shape 18"/>
          <p:cNvSpPr/>
          <p:nvPr/>
        </p:nvSpPr>
        <p:spPr>
          <a:xfrm>
            <a:off x="228600" y="1664207"/>
            <a:ext cx="2011679" cy="384049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" name="Text 19"/>
          <p:cNvSpPr txBox="1"/>
          <p:nvPr/>
        </p:nvSpPr>
        <p:spPr>
          <a:xfrm>
            <a:off x="320040" y="1688400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r>
              <a:t>ResNet-18</a:t>
            </a:r>
          </a:p>
        </p:txBody>
      </p:sp>
      <p:sp>
        <p:nvSpPr>
          <p:cNvPr id="93" name="Text 20"/>
          <p:cNvSpPr txBox="1"/>
          <p:nvPr/>
        </p:nvSpPr>
        <p:spPr>
          <a:xfrm>
            <a:off x="320040" y="1893316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i="1">
                <a:solidFill>
                  <a:srgbClr val="FFFFFF"/>
                </a:solidFill>
              </a:defRPr>
            </a:lvl1pPr>
          </a:lstStyle>
          <a:p>
            <a:r>
              <a:t>Baseline CNN</a:t>
            </a:r>
          </a:p>
        </p:txBody>
      </p:sp>
      <p:sp>
        <p:nvSpPr>
          <p:cNvPr id="94" name="Shape 21"/>
          <p:cNvSpPr/>
          <p:nvPr/>
        </p:nvSpPr>
        <p:spPr>
          <a:xfrm>
            <a:off x="320040" y="2103120"/>
            <a:ext cx="1828801" cy="23774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Text 22"/>
          <p:cNvSpPr txBox="1"/>
          <p:nvPr/>
        </p:nvSpPr>
        <p:spPr>
          <a:xfrm>
            <a:off x="320040" y="2158491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b="1">
                <a:solidFill>
                  <a:srgbClr val="2E5FAC"/>
                </a:solidFill>
              </a:defRPr>
            </a:lvl1pPr>
          </a:lstStyle>
          <a:p>
            <a:r>
              <a:t>512-d · 11.7M params</a:t>
            </a:r>
          </a:p>
        </p:txBody>
      </p:sp>
      <p:sp>
        <p:nvSpPr>
          <p:cNvPr id="96" name="Text 23"/>
          <p:cNvSpPr txBox="1"/>
          <p:nvPr/>
        </p:nvSpPr>
        <p:spPr>
          <a:xfrm>
            <a:off x="384048" y="2939201"/>
            <a:ext cx="1700784" cy="1336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18-layer residual network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AdaptiveAvgPool → 512-d vector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Classification head removed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K sweep: {5,8,10,12,15,20,25}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No PCA required (low dim)</a:t>
            </a:r>
          </a:p>
        </p:txBody>
      </p:sp>
      <p:sp>
        <p:nvSpPr>
          <p:cNvPr id="97" name="Shape 24"/>
          <p:cNvSpPr/>
          <p:nvPr/>
        </p:nvSpPr>
        <p:spPr>
          <a:xfrm>
            <a:off x="2423160" y="1664207"/>
            <a:ext cx="2011679" cy="3246121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98" name="Shape 25"/>
          <p:cNvSpPr/>
          <p:nvPr/>
        </p:nvSpPr>
        <p:spPr>
          <a:xfrm>
            <a:off x="2423160" y="1664207"/>
            <a:ext cx="2011679" cy="384049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Text 26"/>
          <p:cNvSpPr txBox="1"/>
          <p:nvPr/>
        </p:nvSpPr>
        <p:spPr>
          <a:xfrm>
            <a:off x="2514600" y="1688400"/>
            <a:ext cx="18288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r>
              <a:t>VGG-16</a:t>
            </a:r>
          </a:p>
        </p:txBody>
      </p:sp>
      <p:sp>
        <p:nvSpPr>
          <p:cNvPr id="100" name="Text 27"/>
          <p:cNvSpPr txBox="1"/>
          <p:nvPr/>
        </p:nvSpPr>
        <p:spPr>
          <a:xfrm>
            <a:off x="2514600" y="1893316"/>
            <a:ext cx="1828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i="1">
                <a:solidFill>
                  <a:srgbClr val="FFFFFF"/>
                </a:solidFill>
              </a:defRPr>
            </a:lvl1pPr>
          </a:lstStyle>
          <a:p>
            <a:r>
              <a:t>Deep CNN</a:t>
            </a:r>
          </a:p>
        </p:txBody>
      </p:sp>
      <p:sp>
        <p:nvSpPr>
          <p:cNvPr id="101" name="Shape 28"/>
          <p:cNvSpPr/>
          <p:nvPr/>
        </p:nvSpPr>
        <p:spPr>
          <a:xfrm>
            <a:off x="2514600" y="2103120"/>
            <a:ext cx="1828800" cy="23774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" name="Text 29"/>
          <p:cNvSpPr txBox="1"/>
          <p:nvPr/>
        </p:nvSpPr>
        <p:spPr>
          <a:xfrm>
            <a:off x="2514600" y="2158491"/>
            <a:ext cx="1828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b="1">
                <a:solidFill>
                  <a:srgbClr val="2A9D8F"/>
                </a:solidFill>
              </a:defRPr>
            </a:lvl1pPr>
          </a:lstStyle>
          <a:p>
            <a:r>
              <a:t>4,096-d · 134M params</a:t>
            </a:r>
          </a:p>
        </p:txBody>
      </p:sp>
      <p:sp>
        <p:nvSpPr>
          <p:cNvPr id="103" name="Text 30"/>
          <p:cNvSpPr txBox="1"/>
          <p:nvPr/>
        </p:nvSpPr>
        <p:spPr>
          <a:xfrm>
            <a:off x="2578608" y="2799501"/>
            <a:ext cx="1700785" cy="161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13 conv layers + 2 FC blocks retained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fc8 (classifier head) removed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VGG16_Weights.IMAGENET1K_V1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PCA to 100 components before K-Means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8× more features than ResNet-18</a:t>
            </a:r>
          </a:p>
        </p:txBody>
      </p:sp>
      <p:sp>
        <p:nvSpPr>
          <p:cNvPr id="104" name="Shape 31"/>
          <p:cNvSpPr/>
          <p:nvPr/>
        </p:nvSpPr>
        <p:spPr>
          <a:xfrm>
            <a:off x="4617720" y="1664207"/>
            <a:ext cx="2011680" cy="3246121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5" name="Shape 32"/>
          <p:cNvSpPr/>
          <p:nvPr/>
        </p:nvSpPr>
        <p:spPr>
          <a:xfrm>
            <a:off x="4617720" y="1664207"/>
            <a:ext cx="2011680" cy="384049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Text 33"/>
          <p:cNvSpPr txBox="1"/>
          <p:nvPr/>
        </p:nvSpPr>
        <p:spPr>
          <a:xfrm>
            <a:off x="4709159" y="1688400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r>
              <a:t>ViT-B/16</a:t>
            </a:r>
          </a:p>
        </p:txBody>
      </p:sp>
      <p:sp>
        <p:nvSpPr>
          <p:cNvPr id="107" name="Text 34"/>
          <p:cNvSpPr txBox="1"/>
          <p:nvPr/>
        </p:nvSpPr>
        <p:spPr>
          <a:xfrm>
            <a:off x="4709159" y="1893316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i="1">
                <a:solidFill>
                  <a:srgbClr val="FFFFFF"/>
                </a:solidFill>
              </a:defRPr>
            </a:lvl1pPr>
          </a:lstStyle>
          <a:p>
            <a:r>
              <a:t>Vision Transformer</a:t>
            </a:r>
          </a:p>
        </p:txBody>
      </p:sp>
      <p:sp>
        <p:nvSpPr>
          <p:cNvPr id="108" name="Shape 35"/>
          <p:cNvSpPr/>
          <p:nvPr/>
        </p:nvSpPr>
        <p:spPr>
          <a:xfrm>
            <a:off x="4709159" y="2103120"/>
            <a:ext cx="1828801" cy="23774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Text 36"/>
          <p:cNvSpPr txBox="1"/>
          <p:nvPr/>
        </p:nvSpPr>
        <p:spPr>
          <a:xfrm>
            <a:off x="4709159" y="2158491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b="1">
                <a:solidFill>
                  <a:srgbClr val="F4A261"/>
                </a:solidFill>
              </a:defRPr>
            </a:lvl1pPr>
          </a:lstStyle>
          <a:p>
            <a:r>
              <a:t>768-d · 86M params</a:t>
            </a:r>
          </a:p>
        </p:txBody>
      </p:sp>
      <p:sp>
        <p:nvSpPr>
          <p:cNvPr id="110" name="Text 37"/>
          <p:cNvSpPr txBox="1"/>
          <p:nvPr/>
        </p:nvSpPr>
        <p:spPr>
          <a:xfrm>
            <a:off x="4773167" y="2939201"/>
            <a:ext cx="1700785" cy="1336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CLS token output (768-d)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Self-attention weights foreground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No explicit segmentation needed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Outperforms CNNs on dogs by 50%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Best K=20 on Oxford Dogs</a:t>
            </a:r>
          </a:p>
        </p:txBody>
      </p:sp>
      <p:sp>
        <p:nvSpPr>
          <p:cNvPr id="111" name="Shape 38"/>
          <p:cNvSpPr/>
          <p:nvPr/>
        </p:nvSpPr>
        <p:spPr>
          <a:xfrm>
            <a:off x="6812280" y="1664207"/>
            <a:ext cx="2011680" cy="3246121"/>
          </a:xfrm>
          <a:prstGeom prst="rect">
            <a:avLst/>
          </a:prstGeom>
          <a:solidFill>
            <a:srgbClr val="FFFFFF"/>
          </a:solidFill>
          <a:ln w="25400">
            <a:solidFill>
              <a:srgbClr val="7B5EA7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12" name="Shape 39"/>
          <p:cNvSpPr/>
          <p:nvPr/>
        </p:nvSpPr>
        <p:spPr>
          <a:xfrm>
            <a:off x="6812280" y="1664207"/>
            <a:ext cx="2011680" cy="384049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" name="Text 40"/>
          <p:cNvSpPr txBox="1"/>
          <p:nvPr/>
        </p:nvSpPr>
        <p:spPr>
          <a:xfrm>
            <a:off x="6903719" y="1688400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r>
              <a:t>ViT-L/16</a:t>
            </a:r>
          </a:p>
        </p:txBody>
      </p:sp>
      <p:sp>
        <p:nvSpPr>
          <p:cNvPr id="114" name="Text 41"/>
          <p:cNvSpPr txBox="1"/>
          <p:nvPr/>
        </p:nvSpPr>
        <p:spPr>
          <a:xfrm>
            <a:off x="6903719" y="1893316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i="1">
                <a:solidFill>
                  <a:srgbClr val="FFFFFF"/>
                </a:solidFill>
              </a:defRPr>
            </a:lvl1pPr>
          </a:lstStyle>
          <a:p>
            <a:r>
              <a:t>Large Transformer</a:t>
            </a:r>
          </a:p>
        </p:txBody>
      </p:sp>
      <p:sp>
        <p:nvSpPr>
          <p:cNvPr id="115" name="Shape 42"/>
          <p:cNvSpPr/>
          <p:nvPr/>
        </p:nvSpPr>
        <p:spPr>
          <a:xfrm>
            <a:off x="6903719" y="2103120"/>
            <a:ext cx="1828801" cy="23774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" name="Text 43"/>
          <p:cNvSpPr txBox="1"/>
          <p:nvPr/>
        </p:nvSpPr>
        <p:spPr>
          <a:xfrm>
            <a:off x="6903719" y="2158491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b="1">
                <a:solidFill>
                  <a:srgbClr val="7B5EA7"/>
                </a:solidFill>
              </a:defRPr>
            </a:lvl1pPr>
          </a:lstStyle>
          <a:p>
            <a:r>
              <a:t>1,024-d · 307M params</a:t>
            </a:r>
          </a:p>
        </p:txBody>
      </p:sp>
      <p:sp>
        <p:nvSpPr>
          <p:cNvPr id="117" name="Text 44"/>
          <p:cNvSpPr txBox="1"/>
          <p:nvPr/>
        </p:nvSpPr>
        <p:spPr>
          <a:xfrm>
            <a:off x="6967727" y="2869351"/>
            <a:ext cx="1700785" cy="147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rPr dirty="0"/>
              <a:t>Larger CLS token (1,024-d)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rPr dirty="0"/>
              <a:t>Same pretraining as </a:t>
            </a:r>
            <a:r>
              <a:rPr dirty="0" err="1"/>
              <a:t>ViT</a:t>
            </a:r>
            <a:r>
              <a:t>-B/16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Slightly weaker on dogs vs </a:t>
            </a:r>
            <a:r>
              <a:rPr dirty="0" err="1"/>
              <a:t>ViT</a:t>
            </a:r>
            <a:r>
              <a:rPr dirty="0"/>
              <a:t>-B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rPr dirty="0"/>
              <a:t>Strongest on cats: ARI 0.437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rPr dirty="0"/>
              <a:t>Higher capacity → better cat breeds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Text 1"/>
          <p:cNvSpPr txBox="1"/>
          <p:nvPr/>
        </p:nvSpPr>
        <p:spPr>
          <a:xfrm>
            <a:off x="411479" y="136496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Results, Analysis &amp; Conclusion</a:t>
            </a:r>
          </a:p>
        </p:txBody>
      </p:sp>
      <p:graphicFrame>
        <p:nvGraphicFramePr>
          <p:cNvPr id="121" name="Table 0"/>
          <p:cNvGraphicFramePr/>
          <p:nvPr/>
        </p:nvGraphicFramePr>
        <p:xfrm>
          <a:off x="228600" y="731519"/>
          <a:ext cx="4983479" cy="27432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005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Best K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ARI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NMI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Purity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Silhouette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CIFAR-10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ResNet-18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5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N/A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N/A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N/A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0.014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CIFAR-10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VGG-16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2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N/A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N/A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N/A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0.054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Imagewoof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ResNet-18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10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2D9648"/>
                          </a:solidFill>
                        </a:rPr>
                        <a:t>0.581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0.687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77.3%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0.066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Imagewoof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VGG-16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12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0.571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0.680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70.8%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0.056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Oxford Dogs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ResNet-18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15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2D9648"/>
                          </a:solidFill>
                        </a:rPr>
                        <a:t>0.530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0.789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90.2%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0.063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Oxford Dogs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VGG-16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15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0.493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0.765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—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0.051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Oxford Dogs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ViT-B/16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20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B8410A"/>
                          </a:solidFill>
                        </a:rPr>
                        <a:t>0.796★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B8410A"/>
                          </a:solidFill>
                        </a:rPr>
                        <a:t>0.925★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—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0.191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Oxford Dogs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ViT-L/16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20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0.773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0.918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—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0.137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Oxford Cats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ResNet-18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5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0.261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0.482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73.0%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0.036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Oxford Cats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VGG-16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5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0.283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0.533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—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0.000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Oxford Cats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ViT-L/16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8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B8410A"/>
                          </a:solidFill>
                        </a:rPr>
                        <a:t>0.437★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 b="1">
                          <a:solidFill>
                            <a:srgbClr val="B8410A"/>
                          </a:solidFill>
                        </a:rPr>
                        <a:t>0.662★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—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374151"/>
                          </a:solidFill>
                        </a:rPr>
                        <a:t>0.052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C8D6E8"/>
                      </a:solidFill>
                    </a:lnL>
                    <a:lnR w="6350">
                      <a:solidFill>
                        <a:srgbClr val="C8D6E8"/>
                      </a:solidFill>
                    </a:lnR>
                    <a:lnT w="6350">
                      <a:solidFill>
                        <a:srgbClr val="C8D6E8"/>
                      </a:solidFill>
                    </a:lnT>
                    <a:lnB w="6350">
                      <a:solidFill>
                        <a:srgbClr val="C8D6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2" name="Text 2"/>
          <p:cNvSpPr txBox="1"/>
          <p:nvPr/>
        </p:nvSpPr>
        <p:spPr>
          <a:xfrm>
            <a:off x="160020" y="3373456"/>
            <a:ext cx="5120640" cy="226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i="1">
                <a:solidFill>
                  <a:srgbClr val="B8410A"/>
                </a:solidFill>
              </a:defRPr>
            </a:lvl1pPr>
          </a:lstStyle>
          <a:p>
            <a:r>
              <a:t>★ Best result per dataset</a:t>
            </a:r>
          </a:p>
        </p:txBody>
      </p:sp>
      <p:sp>
        <p:nvSpPr>
          <p:cNvPr id="123" name="Shape 3"/>
          <p:cNvSpPr/>
          <p:nvPr/>
        </p:nvSpPr>
        <p:spPr>
          <a:xfrm>
            <a:off x="5623559" y="731519"/>
            <a:ext cx="3291841" cy="1325881"/>
          </a:xfrm>
          <a:prstGeom prst="rect">
            <a:avLst/>
          </a:prstGeom>
          <a:solidFill>
            <a:srgbClr val="FFFFFF"/>
          </a:solidFill>
          <a:ln w="25400">
            <a:solidFill>
              <a:srgbClr val="2D9648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4" name="Shape 4"/>
          <p:cNvSpPr/>
          <p:nvPr/>
        </p:nvSpPr>
        <p:spPr>
          <a:xfrm>
            <a:off x="5623559" y="731519"/>
            <a:ext cx="3291841" cy="320041"/>
          </a:xfrm>
          <a:prstGeom prst="rect">
            <a:avLst/>
          </a:prstGeom>
          <a:solidFill>
            <a:srgbClr val="2D9648"/>
          </a:solidFill>
          <a:ln w="12700">
            <a:solidFill>
              <a:srgbClr val="2D964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" name="Text 5"/>
          <p:cNvSpPr txBox="1"/>
          <p:nvPr/>
        </p:nvSpPr>
        <p:spPr>
          <a:xfrm>
            <a:off x="5733288" y="808535"/>
            <a:ext cx="31089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t>Key Findings</a:t>
            </a:r>
          </a:p>
        </p:txBody>
      </p:sp>
      <p:sp>
        <p:nvSpPr>
          <p:cNvPr id="126" name="Text 6"/>
          <p:cNvSpPr txBox="1"/>
          <p:nvPr/>
        </p:nvSpPr>
        <p:spPr>
          <a:xfrm>
            <a:off x="5779008" y="1045885"/>
            <a:ext cx="2980945" cy="980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Resolution is the #1 bottleneck — CIFAR-10 fails regardless of model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VGG-16 ≈ ResNet-18 — 8× more features, no consistent gain; shared AvgPool bottleneck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ViT-B/16 wins: ARI 0.796 on Oxford Dogs (+62% over VGG-16)</a:t>
            </a:r>
          </a:p>
        </p:txBody>
      </p:sp>
      <p:sp>
        <p:nvSpPr>
          <p:cNvPr id="127" name="Shape 7"/>
          <p:cNvSpPr/>
          <p:nvPr/>
        </p:nvSpPr>
        <p:spPr>
          <a:xfrm>
            <a:off x="5623559" y="2148839"/>
            <a:ext cx="3291841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FAC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8" name="Shape 8"/>
          <p:cNvSpPr/>
          <p:nvPr/>
        </p:nvSpPr>
        <p:spPr>
          <a:xfrm>
            <a:off x="5623559" y="2148839"/>
            <a:ext cx="3291841" cy="320041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Text 9"/>
          <p:cNvSpPr txBox="1"/>
          <p:nvPr/>
        </p:nvSpPr>
        <p:spPr>
          <a:xfrm>
            <a:off x="5733288" y="2225855"/>
            <a:ext cx="31089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t>Robustness Observations</a:t>
            </a:r>
          </a:p>
        </p:txBody>
      </p:sp>
      <p:sp>
        <p:nvSpPr>
          <p:cNvPr id="130" name="Text 10"/>
          <p:cNvSpPr txBox="1"/>
          <p:nvPr/>
        </p:nvSpPr>
        <p:spPr>
          <a:xfrm>
            <a:off x="5779008" y="2484795"/>
            <a:ext cx="2980945" cy="663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SAM background removal degrades both CNNs across all 18 comparisons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374151"/>
                </a:solidFill>
              </a:defRPr>
            </a:pPr>
            <a:r>
              <a:t>Lighting: dog ARI drops 77–85% at very dark; cats only 67–69% — dogs rely on color, cats on shape</a:t>
            </a:r>
          </a:p>
        </p:txBody>
      </p:sp>
      <p:sp>
        <p:nvSpPr>
          <p:cNvPr id="131" name="Shape 11"/>
          <p:cNvSpPr/>
          <p:nvPr/>
        </p:nvSpPr>
        <p:spPr>
          <a:xfrm>
            <a:off x="5623559" y="3246120"/>
            <a:ext cx="3291841" cy="822961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2" name="Shape 12"/>
          <p:cNvSpPr/>
          <p:nvPr/>
        </p:nvSpPr>
        <p:spPr>
          <a:xfrm>
            <a:off x="5623559" y="3246120"/>
            <a:ext cx="3291841" cy="320041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3" name="Text 13"/>
          <p:cNvSpPr txBox="1"/>
          <p:nvPr/>
        </p:nvSpPr>
        <p:spPr>
          <a:xfrm>
            <a:off x="5733288" y="3323135"/>
            <a:ext cx="31089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t>Limitation</a:t>
            </a:r>
          </a:p>
        </p:txBody>
      </p:sp>
      <p:sp>
        <p:nvSpPr>
          <p:cNvPr id="134" name="Text 14"/>
          <p:cNvSpPr txBox="1"/>
          <p:nvPr/>
        </p:nvSpPr>
        <p:spPr>
          <a:xfrm>
            <a:off x="5779008" y="3568277"/>
            <a:ext cx="2980945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900">
                <a:solidFill>
                  <a:srgbClr val="374151"/>
                </a:solidFill>
              </a:defRPr>
            </a:lvl1pPr>
          </a:lstStyle>
          <a:p>
            <a:r>
              <a:rPr dirty="0"/>
              <a:t>K-Means assumes spherical equal-size clusters </a:t>
            </a:r>
            <a:r>
              <a:rPr lang="en-US" dirty="0"/>
              <a:t>which is not</a:t>
            </a:r>
            <a:r>
              <a:rPr dirty="0"/>
              <a:t> practic</a:t>
            </a:r>
            <a:r>
              <a:rPr lang="en-US" dirty="0"/>
              <a:t>al; also, our</a:t>
            </a:r>
            <a:r>
              <a:rPr dirty="0"/>
              <a:t> pipeline</a:t>
            </a:r>
            <a:r>
              <a:rPr lang="en-US" dirty="0"/>
              <a:t> was</a:t>
            </a:r>
            <a:r>
              <a:rPr dirty="0"/>
              <a:t> not robust to non-standard lighting</a:t>
            </a:r>
          </a:p>
        </p:txBody>
      </p:sp>
      <p:sp>
        <p:nvSpPr>
          <p:cNvPr id="135" name="Shape 15"/>
          <p:cNvSpPr/>
          <p:nvPr/>
        </p:nvSpPr>
        <p:spPr>
          <a:xfrm>
            <a:off x="5623559" y="4160520"/>
            <a:ext cx="3291841" cy="77724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  <a:effectLst>
            <a:outerShdw blurRad="101600" dist="38100" dir="81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6" name="Text 16"/>
          <p:cNvSpPr txBox="1"/>
          <p:nvPr/>
        </p:nvSpPr>
        <p:spPr>
          <a:xfrm>
            <a:off x="5733288" y="4246679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4A261"/>
                </a:solidFill>
              </a:defRPr>
            </a:lvl1pPr>
          </a:lstStyle>
          <a:p>
            <a:r>
              <a:t>Future Improvements</a:t>
            </a:r>
          </a:p>
        </p:txBody>
      </p:sp>
      <p:sp>
        <p:nvSpPr>
          <p:cNvPr id="137" name="Text 17"/>
          <p:cNvSpPr txBox="1"/>
          <p:nvPr/>
        </p:nvSpPr>
        <p:spPr>
          <a:xfrm>
            <a:off x="5779008" y="4443643"/>
            <a:ext cx="2980945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900">
                <a:solidFill>
                  <a:srgbClr val="FFFFFF"/>
                </a:solidFill>
              </a:defRPr>
            </a:lvl1pPr>
          </a:lstStyle>
          <a:p>
            <a:r>
              <a:t>Fine-tune on small breed-labeled set; try UMAP/HDBSCAN; add brightness augmentation during pretraining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11479" y="136496"/>
            <a:ext cx="8321041" cy="56000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/>
              </a:rPr>
              <a:t>Robustness Analysis: SAM Background Removal &amp; Lighting Conditions</a:t>
            </a:r>
          </a:p>
        </p:txBody>
      </p:sp>
      <p:sp>
        <p:nvSpPr>
          <p:cNvPr id="10" name="SAMLabel"/>
          <p:cNvSpPr txBox="1"/>
          <p:nvPr/>
        </p:nvSpPr>
        <p:spPr>
          <a:xfrm>
            <a:off x="228600" y="700000"/>
            <a:ext cx="4257300" cy="300000"/>
          </a:xfrm>
          <a:prstGeom prst="rect">
            <a:avLst/>
          </a:prstGeom>
          <a:solidFill>
            <a:srgbClr val="2E7D5E"/>
          </a:solidFill>
          <a:ln w="0">
            <a:noFill/>
          </a:ln>
        </p:spPr>
        <p:txBody>
          <a:bodyPr lIns="91440" rIns="9144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/>
              </a:rPr>
              <a:t>SAM Background Removal Impact</a:t>
            </a:r>
          </a:p>
        </p:txBody>
      </p:sp>
      <p:sp>
        <p:nvSpPr>
          <p:cNvPr id="11" name="SAMHdr"/>
          <p:cNvSpPr txBox="1"/>
          <p:nvPr/>
        </p:nvSpPr>
        <p:spPr>
          <a:xfrm>
            <a:off x="228600" y="1000000"/>
            <a:ext cx="4257300" cy="260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txBody>
          <a:bodyPr lIns="45719" rIns="45719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/>
              </a:rPr>
              <a:t>  Dataset        Model    Pipeline      ARI     NMI    Purity</a:t>
            </a:r>
          </a:p>
        </p:txBody>
      </p:sp>
      <p:sp>
        <p:nvSpPr>
          <p:cNvPr id="12" name="IWHdr"/>
          <p:cNvSpPr txBox="1"/>
          <p:nvPr/>
        </p:nvSpPr>
        <p:spPr>
          <a:xfrm>
            <a:off x="228600" y="1260000"/>
            <a:ext cx="4257300" cy="210000"/>
          </a:xfrm>
          <a:prstGeom prst="rect">
            <a:avLst/>
          </a:prstGeom>
          <a:solidFill>
            <a:srgbClr val="D6E4F0"/>
          </a:solidFill>
          <a:ln w="0">
            <a:noFill/>
          </a:ln>
        </p:spPr>
        <p:txBody>
          <a:bodyPr lIns="45719" rIns="45719" anchor="ctr"/>
          <a:lstStyle/>
          <a:p>
            <a:r>
              <a:rPr lang="en-US" sz="950" b="1" dirty="0">
                <a:solidFill>
                  <a:srgbClr val="1B2A4A"/>
                </a:solidFill>
                <a:latin typeface="Calibri"/>
              </a:rPr>
              <a:t>  Imagewoof</a:t>
            </a:r>
          </a:p>
        </p:txBody>
      </p:sp>
      <p:sp>
        <p:nvSpPr>
          <p:cNvPr id="13" name="IWRows"/>
          <p:cNvSpPr txBox="1"/>
          <p:nvPr/>
        </p:nvSpPr>
        <p:spPr>
          <a:xfrm>
            <a:off x="228600" y="1470000"/>
            <a:ext cx="4257300" cy="8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</a:ln>
        </p:spPr>
        <p:txBody>
          <a:bodyPr lIns="45719" rIns="45719" anchor="t"/>
          <a:lstStyle/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ResNet    Baseline      0.580   0.690   77.3%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ResNet    SAM Black     0.251   0.411   46.6%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ResNet    SAM White     0.143   0.254   50.6%</a:t>
            </a:r>
          </a:p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VGG-16    Baseline      0.571   0.680   70.8%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VGG-16    SAM Black     0.171   0.310   ~45%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VGG-16    SAM White     0.132   0.251   ~45%</a:t>
            </a:r>
          </a:p>
        </p:txBody>
      </p:sp>
      <p:sp>
        <p:nvSpPr>
          <p:cNvPr id="14" name="ODHdr"/>
          <p:cNvSpPr txBox="1"/>
          <p:nvPr/>
        </p:nvSpPr>
        <p:spPr>
          <a:xfrm>
            <a:off x="228600" y="2340000"/>
            <a:ext cx="4257300" cy="210000"/>
          </a:xfrm>
          <a:prstGeom prst="rect">
            <a:avLst/>
          </a:prstGeom>
          <a:solidFill>
            <a:srgbClr val="D6E4F0"/>
          </a:solidFill>
          <a:ln w="0">
            <a:noFill/>
          </a:ln>
        </p:spPr>
        <p:txBody>
          <a:bodyPr lIns="45719" rIns="45719" anchor="ctr"/>
          <a:lstStyle/>
          <a:p>
            <a:r>
              <a:rPr lang="en-US" sz="950" b="1" dirty="0">
                <a:solidFill>
                  <a:srgbClr val="1B2A4A"/>
                </a:solidFill>
                <a:latin typeface="Calibri"/>
              </a:rPr>
              <a:t>  Oxford Dogs</a:t>
            </a:r>
          </a:p>
        </p:txBody>
      </p:sp>
      <p:sp>
        <p:nvSpPr>
          <p:cNvPr id="15" name="ODRows"/>
          <p:cNvSpPr txBox="1"/>
          <p:nvPr/>
        </p:nvSpPr>
        <p:spPr>
          <a:xfrm>
            <a:off x="228600" y="2550000"/>
            <a:ext cx="4257300" cy="8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</a:ln>
        </p:spPr>
        <p:txBody>
          <a:bodyPr lIns="45719" rIns="45719" anchor="t"/>
          <a:lstStyle/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ResNet    Baseline      0.530   0.789   90.2%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ResNet    SAM Black     0.248   0.539   68.1%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ResNet    SAM White     0.362   0.614   65.1%</a:t>
            </a:r>
          </a:p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VGG-16    Baseline      0.493   0.765   85.6%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VGG-16    SAM Black     0.206   0.518   68.4%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VGG-16    SAM White     0.318   0.608   68.2%</a:t>
            </a:r>
          </a:p>
        </p:txBody>
      </p:sp>
      <p:sp>
        <p:nvSpPr>
          <p:cNvPr id="16" name="OCHdr"/>
          <p:cNvSpPr txBox="1"/>
          <p:nvPr/>
        </p:nvSpPr>
        <p:spPr>
          <a:xfrm>
            <a:off x="228600" y="3420000"/>
            <a:ext cx="4257300" cy="210000"/>
          </a:xfrm>
          <a:prstGeom prst="rect">
            <a:avLst/>
          </a:prstGeom>
          <a:solidFill>
            <a:srgbClr val="D6E4F0"/>
          </a:solidFill>
          <a:ln w="0">
            <a:noFill/>
          </a:ln>
        </p:spPr>
        <p:txBody>
          <a:bodyPr lIns="45719" rIns="45719" anchor="ctr"/>
          <a:lstStyle/>
          <a:p>
            <a:r>
              <a:rPr lang="en-US" sz="950" b="1" dirty="0">
                <a:solidFill>
                  <a:srgbClr val="1B2A4A"/>
                </a:solidFill>
                <a:latin typeface="Calibri"/>
              </a:rPr>
              <a:t>  Oxford Cats</a:t>
            </a:r>
          </a:p>
        </p:txBody>
      </p:sp>
      <p:sp>
        <p:nvSpPr>
          <p:cNvPr id="17" name="OCRows"/>
          <p:cNvSpPr txBox="1"/>
          <p:nvPr/>
        </p:nvSpPr>
        <p:spPr>
          <a:xfrm>
            <a:off x="228600" y="3630000"/>
            <a:ext cx="4257300" cy="9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</a:ln>
        </p:spPr>
        <p:txBody>
          <a:bodyPr lIns="45719" rIns="45719" anchor="t"/>
          <a:lstStyle/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ResNet    Baseline      0.261   0.482   73.0%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ResNet    SAM Black     0.143   0.316   58.2%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ResNet    SAM White     0.261   0.451   54.2%</a:t>
            </a:r>
          </a:p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VGG-16    Baseline      0.283   0.533   85.8%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VGG-16    SAM Black     0.152   0.325   60.4%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VGG-16    SAM White     0.194   0.402   64.8%</a:t>
            </a:r>
          </a:p>
        </p:txBody>
      </p:sp>
      <p:sp>
        <p:nvSpPr>
          <p:cNvPr id="20" name="LightLabel"/>
          <p:cNvSpPr txBox="1"/>
          <p:nvPr/>
        </p:nvSpPr>
        <p:spPr>
          <a:xfrm>
            <a:off x="4657800" y="700000"/>
            <a:ext cx="4257300" cy="300000"/>
          </a:xfrm>
          <a:prstGeom prst="rect">
            <a:avLst/>
          </a:prstGeom>
          <a:solidFill>
            <a:srgbClr val="5B4A99"/>
          </a:solidFill>
          <a:ln w="0">
            <a:noFill/>
          </a:ln>
        </p:spPr>
        <p:txBody>
          <a:bodyPr lIns="91440" rIns="9144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/>
              </a:rPr>
              <a:t>Lighting Condition Impact</a:t>
            </a:r>
          </a:p>
        </p:txBody>
      </p:sp>
      <p:sp>
        <p:nvSpPr>
          <p:cNvPr id="21" name="LightHdr"/>
          <p:cNvSpPr txBox="1"/>
          <p:nvPr/>
        </p:nvSpPr>
        <p:spPr>
          <a:xfrm>
            <a:off x="4657800" y="1000000"/>
            <a:ext cx="4257300" cy="260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txBody>
          <a:bodyPr lIns="45719" rIns="45719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/>
              </a:rPr>
              <a:t>  Model       Brightness   Species   ARI     NMI     Drop</a:t>
            </a:r>
          </a:p>
        </p:txBody>
      </p:sp>
      <p:sp>
        <p:nvSpPr>
          <p:cNvPr id="22" name="RNHdr"/>
          <p:cNvSpPr txBox="1"/>
          <p:nvPr/>
        </p:nvSpPr>
        <p:spPr>
          <a:xfrm>
            <a:off x="4657800" y="1260000"/>
            <a:ext cx="4257300" cy="210000"/>
          </a:xfrm>
          <a:prstGeom prst="rect">
            <a:avLst/>
          </a:prstGeom>
          <a:solidFill>
            <a:srgbClr val="D6E4F0"/>
          </a:solidFill>
          <a:ln w="0">
            <a:noFill/>
          </a:ln>
        </p:spPr>
        <p:txBody>
          <a:bodyPr lIns="45719" rIns="45719" anchor="ctr"/>
          <a:lstStyle/>
          <a:p>
            <a:r>
              <a:rPr lang="en-US" sz="950" b="1" dirty="0">
                <a:solidFill>
                  <a:srgbClr val="1B2A4A"/>
                </a:solidFill>
                <a:latin typeface="Calibri"/>
              </a:rPr>
              <a:t>  ResNet-18</a:t>
            </a:r>
          </a:p>
        </p:txBody>
      </p:sp>
      <p:sp>
        <p:nvSpPr>
          <p:cNvPr id="23" name="RNRows"/>
          <p:cNvSpPr txBox="1"/>
          <p:nvPr/>
        </p:nvSpPr>
        <p:spPr>
          <a:xfrm>
            <a:off x="4657800" y="1470000"/>
            <a:ext cx="4257300" cy="8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</a:ln>
        </p:spPr>
        <p:txBody>
          <a:bodyPr lIns="45719" rIns="45719" anchor="t"/>
          <a:lstStyle/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Normal      Dogs      0.530   0.789   ---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Dark        Dogs      0.254   0.556   -0.276</a:t>
            </a:r>
          </a:p>
          <a:p>
            <a:r>
              <a:rPr lang="en-US" sz="880" b="1" dirty="0">
                <a:solidFill>
                  <a:srgbClr val="8B0000"/>
                </a:solidFill>
                <a:latin typeface="Calibri"/>
              </a:rPr>
              <a:t>  Very Dark   Dogs      0.124   0.377   -0.406</a:t>
            </a:r>
          </a:p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Normal      Cats      0.261   0.482   ---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Dark        Cats      0.202   0.404   -0.059</a:t>
            </a:r>
          </a:p>
          <a:p>
            <a:r>
              <a:rPr lang="en-US" sz="880" b="1" dirty="0">
                <a:solidFill>
                  <a:srgbClr val="8B0000"/>
                </a:solidFill>
                <a:latin typeface="Calibri"/>
              </a:rPr>
              <a:t>  Very Dark   Cats      0.080   0.228   -0.181</a:t>
            </a:r>
          </a:p>
        </p:txBody>
      </p:sp>
      <p:sp>
        <p:nvSpPr>
          <p:cNvPr id="24" name="VGGHdr"/>
          <p:cNvSpPr txBox="1"/>
          <p:nvPr/>
        </p:nvSpPr>
        <p:spPr>
          <a:xfrm>
            <a:off x="4657800" y="2340000"/>
            <a:ext cx="4257300" cy="210000"/>
          </a:xfrm>
          <a:prstGeom prst="rect">
            <a:avLst/>
          </a:prstGeom>
          <a:solidFill>
            <a:srgbClr val="D6E4F0"/>
          </a:solidFill>
          <a:ln w="0">
            <a:noFill/>
          </a:ln>
        </p:spPr>
        <p:txBody>
          <a:bodyPr lIns="45719" rIns="45719" anchor="ctr"/>
          <a:lstStyle/>
          <a:p>
            <a:r>
              <a:rPr lang="en-US" sz="950" b="1" dirty="0">
                <a:solidFill>
                  <a:srgbClr val="1B2A4A"/>
                </a:solidFill>
                <a:latin typeface="Calibri"/>
              </a:rPr>
              <a:t>  VGG-16</a:t>
            </a:r>
          </a:p>
        </p:txBody>
      </p:sp>
      <p:sp>
        <p:nvSpPr>
          <p:cNvPr id="25" name="VGGRows"/>
          <p:cNvSpPr txBox="1"/>
          <p:nvPr/>
        </p:nvSpPr>
        <p:spPr>
          <a:xfrm>
            <a:off x="4657800" y="2550000"/>
            <a:ext cx="4257300" cy="8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</a:ln>
        </p:spPr>
        <p:txBody>
          <a:bodyPr lIns="45719" rIns="45719" anchor="t"/>
          <a:lstStyle/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Normal      Dogs      0.493   0.765   ---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Dark        Dogs      0.295   0.620   -0.198</a:t>
            </a:r>
          </a:p>
          <a:p>
            <a:r>
              <a:rPr lang="en-US" sz="880" b="1" dirty="0">
                <a:solidFill>
                  <a:srgbClr val="8B0000"/>
                </a:solidFill>
                <a:latin typeface="Calibri"/>
              </a:rPr>
              <a:t>  Very Dark   Dogs      0.075   0.266   -0.418</a:t>
            </a:r>
          </a:p>
          <a:p>
            <a:r>
              <a:rPr lang="en-US" sz="880" dirty="0">
                <a:solidFill>
                  <a:srgbClr val="1A5C3A"/>
                </a:solidFill>
                <a:latin typeface="Calibri"/>
              </a:rPr>
              <a:t>  Normal      Cats      0.283   0.533   ---</a:t>
            </a:r>
          </a:p>
          <a:p>
            <a:r>
              <a:rPr lang="en-US" sz="880" dirty="0">
                <a:solidFill>
                  <a:srgbClr val="C0392B"/>
                </a:solidFill>
                <a:latin typeface="Calibri"/>
              </a:rPr>
              <a:t>  Dark        Cats      0.163   0.381   -0.120</a:t>
            </a:r>
          </a:p>
          <a:p>
            <a:r>
              <a:rPr lang="en-US" sz="880" b="1" dirty="0">
                <a:solidFill>
                  <a:srgbClr val="8B0000"/>
                </a:solidFill>
                <a:latin typeface="Calibri"/>
              </a:rPr>
              <a:t>  Very Dark   Cats      0.094   0.255   -0.189</a:t>
            </a:r>
          </a:p>
        </p:txBody>
      </p:sp>
      <p:sp>
        <p:nvSpPr>
          <p:cNvPr id="30" name="Takeaway"/>
          <p:cNvSpPr txBox="1"/>
          <p:nvPr/>
        </p:nvSpPr>
        <p:spPr>
          <a:xfrm>
            <a:off x="228600" y="4650000"/>
            <a:ext cx="8686200" cy="450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txBody>
          <a:bodyPr lIns="91440" rIns="91440" anchor="ctr"/>
          <a:lstStyle/>
          <a:p>
            <a:r>
              <a:rPr lang="en-US" sz="1100" b="1" dirty="0">
                <a:solidFill>
                  <a:srgbClr val="2ECC71"/>
                </a:solidFill>
                <a:latin typeface="Calibri"/>
              </a:rPr>
              <a:t>SAM: </a:t>
            </a:r>
            <a:r>
              <a:rPr lang="en-US" sz="1050" dirty="0">
                <a:solidFill>
                  <a:srgbClr val="FFFFFF"/>
                </a:solidFill>
                <a:latin typeface="Calibri"/>
              </a:rPr>
              <a:t>Background removal consistently degrades both CNNs across all 18 comparisons — context is informative, not noise.    </a:t>
            </a:r>
            <a:r>
              <a:rPr lang="en-US" sz="1100" b="1" dirty="0">
                <a:solidFill>
                  <a:srgbClr val="A78BFA"/>
                </a:solidFill>
                <a:latin typeface="Calibri"/>
              </a:rPr>
              <a:t>Lighting: </a:t>
            </a:r>
            <a:r>
              <a:rPr lang="en-US" sz="1050" dirty="0">
                <a:solidFill>
                  <a:srgbClr val="FFFFFF"/>
                </a:solidFill>
                <a:latin typeface="Calibri"/>
              </a:rPr>
              <a:t>Dog ARI collapses 77–85% at very dark vs. cats only 67–69% — dogs rely on color, cats on shape.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1195</Words>
  <Application>Microsoft Office PowerPoint</Application>
  <PresentationFormat>On-screen Show (16:9)</PresentationFormat>
  <Paragraphs>219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Salamot Fakoya</cp:lastModifiedBy>
  <cp:revision>1</cp:revision>
  <dcterms:modified xsi:type="dcterms:W3CDTF">2026-05-15T02:14:42Z</dcterms:modified>
</cp:coreProperties>
</file>